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EnergyFlux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CCEE"/>
                </a:solidFill>
                <a:latin typeface="Calibri"/>
              </a:defRPr>
            </a:pPr>
            <a:r>
              <a:t>Physics-Informed Solar Energy Platform with AI-Powered Grid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AACC"/>
                </a:solidFill>
                <a:latin typeface="Calibri"/>
              </a:defRPr>
            </a:pPr>
            <a:r>
              <a:t>Stage 1: Commercial Behind-the-Meter PV + BESS + Power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  <a:latin typeface="Calibri"/>
              </a:defRPr>
            </a:pPr>
            <a:r>
              <a:t>185 kWp Bifacial PV (LONGi LR6-72HBD-385M)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  <a:latin typeface="Calibri"/>
              </a:defRPr>
            </a:pPr>
            <a:r>
              <a:t>100 kW / 400 kWh BESS with TOU Dispatch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  <a:latin typeface="Calibri"/>
              </a:defRPr>
            </a:pPr>
            <a:r>
              <a:t>7-Bus 0.4kV Distribution Network — 17,518 Hourly Power Flow Runs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  <a:latin typeface="Calibri"/>
              </a:defRPr>
            </a:pPr>
            <a:r>
              <a:t>NVIDIA NIM ReAct Agent for Root Cause Analysis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  <a:latin typeface="Calibri"/>
              </a:defRPr>
            </a:pPr>
            <a:r>
              <a:t>Full REST API (FastAPI + Swagger UI)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780"/>
                </a:solidFill>
                <a:latin typeface="Calibri"/>
              </a:defRPr>
            </a:pPr>
            <a:r>
              <a:t>Chennan Li, PhD, PE  |  github.com/chennanli/EnergyFlux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— 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645920" cy="10058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Weather Data</a:t>
            </a:r>
            <a:br/>
            <a:r>
              <a:t>Open-Meteo API</a:t>
            </a:r>
            <a:br/>
            <a:r>
              <a:t>17,518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188720"/>
            <a:ext cx="1645920" cy="10058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Irradiance</a:t>
            </a:r>
            <a:br/>
            <a:r>
              <a:t>Forecast</a:t>
            </a:r>
            <a:br/>
            <a:r>
              <a:t>NHITS 24h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188720"/>
            <a:ext cx="1645920" cy="10058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PV Generation</a:t>
            </a:r>
            <a:br/>
            <a:r>
              <a:t>pvlib 4-Mode</a:t>
            </a:r>
            <a:br/>
            <a:r>
              <a:t>775 MWh/yr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1645920" cy="10058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BESS Dispatch</a:t>
            </a:r>
            <a:br/>
            <a:r>
              <a:t>TOU-Aware</a:t>
            </a:r>
            <a:br/>
            <a:r>
              <a:t>239 cycles/2yr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188720"/>
            <a:ext cx="1645920" cy="1005840"/>
          </a:xfrm>
          <a:prstGeom prst="rect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Power Flow</a:t>
            </a:r>
            <a:br/>
            <a:r>
              <a:t>pandapower</a:t>
            </a:r>
            <a:br/>
            <a:r>
              <a:t>17,518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20" y="1188720"/>
            <a:ext cx="1645920" cy="1005840"/>
          </a:xfrm>
          <a:prstGeom prst="rect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Diagnosis</a:t>
            </a:r>
            <a:br/>
            <a:r>
              <a:t>NVIDIA NIM</a:t>
            </a:r>
            <a:br/>
            <a:r>
              <a:t>ReAct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371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85FA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371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85FA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371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85FA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371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85FA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1371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85FA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2C53"/>
                </a:solidFill>
                <a:latin typeface="Calibri"/>
              </a:defRPr>
            </a:pPr>
            <a:r>
              <a:t>Network Topology — 0.4kV Commercial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42C53"/>
                </a:solidFill>
                <a:latin typeface="Consolas"/>
              </a:defRPr>
            </a:pPr>
            <a:r>
              <a:t>Utility Grid (10kV)  →  Trafo 400kVA (10kV / 0.4kV)  →  LV Busbar</a:t>
            </a:r>
            <a:br/>
            <a:r>
              <a:t>    ├── PV Plant (185 kWp bifacial, LONGi 385W, GCR=0.45)  ·····  300m</a:t>
            </a:r>
            <a:br/>
            <a:r>
              <a:t>    ├── BESS (100 kW / 400 kWh, TOU dispatch)  ·····················  50m</a:t>
            </a:r>
            <a:br/>
            <a:r>
              <a:t>    ├── Biotech Lab (50 kW base 24/7, +15 kW daytime)  ···········  200m</a:t>
            </a:r>
            <a:br/>
            <a:r>
              <a:t>    ├── Office Building (30 kW weekday daytime)  ····················  150m</a:t>
            </a:r>
            <a:br/>
            <a:r>
              <a:t>    └── EV Charging (50 kW weekday daytime — employees)  ·········  250m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42C53"/>
                </a:solidFill>
                <a:latin typeface="Calibri"/>
              </a:defRPr>
            </a:pPr>
            <a:r>
              <a:t>BESS TOU Strategy (PG&amp;E California)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017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Off-Peak (9pm-8am): $0.10/kWh → Charge from grid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Mid-Peak (8am-4pm): $0.20/kWh → Charge from PV surplus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On-Peak (4pm-9pm):  $0.35/kWh → Discharge to avoid import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Daily cycle: night charge → PV top-up → evening discharge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Result: 239 cycles / 2 years, 96 MWh charged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42C53"/>
                </a:solidFill>
                <a:latin typeface="Calibri"/>
              </a:defRPr>
            </a:pPr>
            <a:r>
              <a:t>PV 4-Mode Comparison (annual energy)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Mode 1: Fixed tilt 20°           — 663 MWh  (baseline)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Mode 2: Tracker, no backtrack  — 711 MWh  (+7.2%, shading penalty)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Mode 3: Tracker + backtrack     — 751 MWh  (+13.4%)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Mode 4: Bifacial + backtrack    — 775 MWh  (+16.9%, used in power flow)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Power Flow Results — 17,518 Hourly Simulations (2 Years)</a:t>
            </a:r>
          </a:p>
        </p:txBody>
      </p:sp>
      <p:pic>
        <p:nvPicPr>
          <p:cNvPr id="4" name="Picture 3" descr="powerflow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2C53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5,363 hours overvoltage (&gt;1.05 pu)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= 31% of all hours, mostly weekends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Peak voltage: 1.074 pu at PV bus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(ANSI C84.1 limit: 1.05 pu)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Root cause: PV 135kW peak vs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weekend load 55kW → 80kW surplus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flows back through 300m cable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→ voltage rise at PV bus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Line loading: max 75% (safe)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No thermal overload risk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BESS absorbs surplus but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400kWh fills in ~5 hours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→ remaining surplus causes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overvoltage after BESS full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5760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4B4A"/>
                </a:solidFill>
                <a:latin typeface="Calibri"/>
              </a:defRPr>
            </a:pPr>
            <a:r>
              <a:t>Insight: BESS placement matters more than sizing — co-locating BESS with PV (DC-coupled) reduces voltage rise at the source, not just at the busbar.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AI-Powered Root Cause Analysis +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2C53"/>
                </a:solidFill>
                <a:latin typeface="Calibri"/>
              </a:defRPr>
            </a:pPr>
            <a:r>
              <a:t>NVIDIA NIM ReAct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Model: Nemotron-Ultra-253B (via NVIDIA NIM API)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Framework: LangChain ReAct + FAISS RAG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4 Tools: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  • query_weather() — real-time weather conditions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  • query_pv_status() — PV generation vs expected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  • query_powerflow() — bus voltages, line loading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  • query_knowledge_base() — RAG over engineering docs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Demo scenario: Midday overvoltage at PV bus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Agent automatically: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  1. Checks weather (clear sky, GHI=930 W/m²)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  2. Checks PV output (135 kW, at capacity)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  3. Checks BESS (SOC=90%, full)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  4. Searches knowledge base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  → Diagnosis: PV surplus + full BESS → reverse flow</a:t>
            </a:r>
          </a:p>
          <a:p>
            <a:pPr>
              <a:spcAft>
                <a:spcPts val="600"/>
              </a:spcAft>
              <a:defRPr sz="1100">
                <a:solidFill>
                  <a:srgbClr val="042C53"/>
                </a:solidFill>
                <a:latin typeface="Calibri"/>
              </a:defRPr>
            </a:pPr>
            <a:r>
              <a:t>  → Actions: increase BESS, add reactive power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2C53"/>
                </a:solidFill>
                <a:latin typeface="Calibri"/>
              </a:defRPr>
            </a:pPr>
            <a:r>
              <a:t>REST API (FastAPI)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GET  /forecast          — 24h GHI forecast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GET  /generation        — PV power (4 modes)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GET  /powerflow          — bus voltages, BESS, loads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GET  /powerflow/summary — violation statistics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POST /diagnose            — trigger RCA agent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Interactive Swagger UI at 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2C53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97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Stage 2: Chemical plant microgrid (TEP load)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  → 10kV industrial feeder, MW-scale PV + BESS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  → Pyomo LP optimal BESS dispatch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Stage 3: Data center + 115kV backbone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  → Multiple industrial loads on shared grid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Stage 4: Utility-scale 100MW solar farm</a:t>
            </a:r>
          </a:p>
          <a:p>
            <a:pPr>
              <a:spcAft>
                <a:spcPts val="600"/>
              </a:spcAft>
              <a:defRPr sz="1200">
                <a:solidFill>
                  <a:srgbClr val="042C53"/>
                </a:solidFill>
                <a:latin typeface="Calibri"/>
              </a:defRPr>
            </a:pPr>
            <a:r>
              <a:t>  → 115kV transmission, grid frequency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780"/>
                </a:solidFill>
                <a:latin typeface="Calibri"/>
              </a:defRPr>
            </a:pPr>
            <a:r>
              <a:t>Tech Stack:  Python · pvlib · pandapower · NeuralForecast · LangChain · NVIDIA NIM · FAISS · FastAPI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